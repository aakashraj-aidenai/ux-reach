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63AD9-3774-C1CE-8AA2-65CC387A5411}" v="2" dt="2026-04-16T12:45:23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apadia" userId="S::shubham.kapadia-x@aidenai.com::4bda3467-9af8-458d-a154-fee869a5b6fd" providerId="AD" clId="Web-{7BD63AD9-3774-C1CE-8AA2-65CC387A5411}"/>
    <pc:docChg chg="modSld">
      <pc:chgData name="Shubham Kapadia" userId="S::shubham.kapadia-x@aidenai.com::4bda3467-9af8-458d-a154-fee869a5b6fd" providerId="AD" clId="Web-{7BD63AD9-3774-C1CE-8AA2-65CC387A5411}" dt="2026-04-16T12:45:23.397" v="1" actId="20577"/>
      <pc:docMkLst>
        <pc:docMk/>
      </pc:docMkLst>
      <pc:sldChg chg="modSp">
        <pc:chgData name="Shubham Kapadia" userId="S::shubham.kapadia-x@aidenai.com::4bda3467-9af8-458d-a154-fee869a5b6fd" providerId="AD" clId="Web-{7BD63AD9-3774-C1CE-8AA2-65CC387A5411}" dt="2026-04-16T12:45:23.397" v="1" actId="20577"/>
        <pc:sldMkLst>
          <pc:docMk/>
          <pc:sldMk cId="0" sldId="282"/>
        </pc:sldMkLst>
        <pc:spChg chg="mod">
          <ac:chgData name="Shubham Kapadia" userId="S::shubham.kapadia-x@aidenai.com::4bda3467-9af8-458d-a154-fee869a5b6fd" providerId="AD" clId="Web-{7BD63AD9-3774-C1CE-8AA2-65CC387A5411}" dt="2026-04-16T12:45:23.397" v="1" actId="20577"/>
          <ac:spMkLst>
            <pc:docMk/>
            <pc:sldMk cId="0" sldId="282"/>
            <ac:spMk id="2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ac6965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ac6965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c8986db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c8986db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c8986db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ec8986db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ec8986db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ec8986db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c8986db0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ec8986db0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c8986db0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c8986db0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c8986db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c8986db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c8986db0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ec8986db0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c8986db0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ec8986db0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c8986db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ec8986db0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c8986db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ec8986db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ec8986db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ec8986db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c8986db0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ec8986db0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c8986db0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ec8986db0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ec8986db0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ec8986db0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c8986db0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ec8986db0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c8986db0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ec8986db0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ec8986db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ec8986db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c8986db0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ec8986db0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ec8986db0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ec8986db0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ec8986db0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ec8986db0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ec8986db0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ec8986db0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c8986db0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ec8986db0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ec8986db0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ec8986db0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ec8986db0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ec8986db0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c8986db0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ec8986db0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ecd0880a2_13_0)">
  <p:cSld name="Title and body (g3decd0880a2_13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(g3decd0880a2_20_0)">
  <p:cSld name="Title slide (g3decd0880a2_20_0)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5"/>
          <p:cNvGrpSpPr/>
          <p:nvPr/>
        </p:nvGrpSpPr>
        <p:grpSpPr>
          <a:xfrm>
            <a:off x="0" y="0"/>
            <a:ext cx="9144000" cy="4953000"/>
            <a:chOff x="0" y="0"/>
            <a:chExt cx="9144000" cy="4953000"/>
          </a:xfrm>
        </p:grpSpPr>
        <p:sp>
          <p:nvSpPr>
            <p:cNvPr id="63" name="Google Shape;63;p1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UXReach</a:t>
              </a:r>
              <a:endParaRPr sz="2400" b="1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81000" y="1143000"/>
              <a:ext cx="8382000" cy="3238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 cap="flat" cmpd="sng">
              <a:solidFill>
                <a:srgbClr val="DADC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 txBox="1"/>
            <p:nvPr/>
          </p:nvSpPr>
          <p:spPr>
            <a:xfrm>
              <a:off x="381000" y="45720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Proof of Concept: </a:t>
              </a:r>
              <a:r>
                <a:rPr lang="en" sz="1100">
                  <a:solidFill>
                    <a:srgbClr val="5F6368"/>
                  </a:solidFill>
                </a:rPr>
                <a:t>UXReach Invite Agent</a:t>
              </a:r>
              <a:endParaRPr sz="1100" b="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2667000" y="2476500"/>
            <a:ext cx="3810000" cy="5715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POC</a:t>
            </a:r>
            <a:endParaRPr sz="3600" b="1" i="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title="Screenshot 2026-04-16 at 4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6"/>
          <p:cNvCxnSpPr/>
          <p:nvPr/>
        </p:nvCxnSpPr>
        <p:spPr>
          <a:xfrm rot="10800000">
            <a:off x="6260675" y="95362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2261550" y="1057790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" name="Google Shape;75;p16"/>
          <p:cNvSpPr txBox="1"/>
          <p:nvPr/>
        </p:nvSpPr>
        <p:spPr>
          <a:xfrm>
            <a:off x="1550750" y="1637451"/>
            <a:ext cx="1406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1. Click here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7031378" y="693500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 Actions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Screenshot 2026-04-16 at 4.29.00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7"/>
          <p:cNvCxnSpPr/>
          <p:nvPr/>
        </p:nvCxnSpPr>
        <p:spPr>
          <a:xfrm rot="10800000">
            <a:off x="4266850" y="202277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" name="Google Shape;83;p17"/>
          <p:cNvSpPr txBox="1"/>
          <p:nvPr/>
        </p:nvSpPr>
        <p:spPr>
          <a:xfrm>
            <a:off x="5037553" y="1762650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Active Studies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 title="Screenshot 2026-04-16 at 4.31.5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8"/>
          <p:cNvCxnSpPr/>
          <p:nvPr/>
        </p:nvCxnSpPr>
        <p:spPr>
          <a:xfrm rot="10800000">
            <a:off x="4303433" y="1924575"/>
            <a:ext cx="637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8"/>
          <p:cNvSpPr txBox="1"/>
          <p:nvPr/>
        </p:nvSpPr>
        <p:spPr>
          <a:xfrm>
            <a:off x="4950875" y="1524075"/>
            <a:ext cx="26778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2. Select the studies and number of invites to send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91" name="Google Shape;91;p18"/>
          <p:cNvCxnSpPr/>
          <p:nvPr/>
        </p:nvCxnSpPr>
        <p:spPr>
          <a:xfrm rot="10800000">
            <a:off x="2269475" y="3300325"/>
            <a:ext cx="0" cy="40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8"/>
          <p:cNvSpPr txBox="1"/>
          <p:nvPr/>
        </p:nvSpPr>
        <p:spPr>
          <a:xfrm>
            <a:off x="1088675" y="3708325"/>
            <a:ext cx="2361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3. Click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creenshot 2026-04-16 at 4.37.58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9"/>
          <p:cNvCxnSpPr/>
          <p:nvPr/>
        </p:nvCxnSpPr>
        <p:spPr>
          <a:xfrm flipH="1">
            <a:off x="2292475" y="4055075"/>
            <a:ext cx="375600" cy="597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9"/>
          <p:cNvSpPr txBox="1"/>
          <p:nvPr/>
        </p:nvSpPr>
        <p:spPr>
          <a:xfrm>
            <a:off x="1770575" y="3573475"/>
            <a:ext cx="35079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4. Agent generates the prompt. Review/Edit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00" name="Google Shape;100;p19"/>
          <p:cNvCxnSpPr/>
          <p:nvPr/>
        </p:nvCxnSpPr>
        <p:spPr>
          <a:xfrm>
            <a:off x="7200600" y="3998950"/>
            <a:ext cx="473700" cy="622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" name="Google Shape;101;p19"/>
          <p:cNvSpPr txBox="1"/>
          <p:nvPr/>
        </p:nvSpPr>
        <p:spPr>
          <a:xfrm>
            <a:off x="6535497" y="3585933"/>
            <a:ext cx="10545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5. Send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 title="Screenshot 2026-04-16 at 4.50.49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/>
          <p:nvPr/>
        </p:nvCxnSpPr>
        <p:spPr>
          <a:xfrm rot="10800000">
            <a:off x="2087132" y="2719213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" name="Google Shape;108;p20"/>
          <p:cNvSpPr txBox="1"/>
          <p:nvPr/>
        </p:nvSpPr>
        <p:spPr>
          <a:xfrm>
            <a:off x="1376332" y="3318138"/>
            <a:ext cx="1406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6. Click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 title="Screenshot 2026-04-16 at 4.53.4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1"/>
          <p:cNvCxnSpPr/>
          <p:nvPr/>
        </p:nvCxnSpPr>
        <p:spPr>
          <a:xfrm rot="10800000">
            <a:off x="3594700" y="3632050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" name="Google Shape;115;p21"/>
          <p:cNvSpPr txBox="1"/>
          <p:nvPr/>
        </p:nvSpPr>
        <p:spPr>
          <a:xfrm>
            <a:off x="4365400" y="3407800"/>
            <a:ext cx="36324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Sending Invites for each study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Screenshot 2026-04-16 at 4.58.2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2"/>
          <p:cNvCxnSpPr/>
          <p:nvPr/>
        </p:nvCxnSpPr>
        <p:spPr>
          <a:xfrm rot="10800000">
            <a:off x="3519950" y="414282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22"/>
          <p:cNvSpPr txBox="1"/>
          <p:nvPr/>
        </p:nvSpPr>
        <p:spPr>
          <a:xfrm>
            <a:off x="4290650" y="3918575"/>
            <a:ext cx="36324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Sending Invites for each study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 title="Screenshot 2026-04-16 at 4.54.03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3"/>
          <p:cNvCxnSpPr/>
          <p:nvPr/>
        </p:nvCxnSpPr>
        <p:spPr>
          <a:xfrm rot="10800000">
            <a:off x="3918600" y="3818900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Google Shape;129;p23"/>
          <p:cNvSpPr txBox="1"/>
          <p:nvPr/>
        </p:nvSpPr>
        <p:spPr>
          <a:xfrm>
            <a:off x="4689300" y="3594650"/>
            <a:ext cx="18759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Final summary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 title="Screenshot 2026-04-16 at 4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4"/>
          <p:cNvCxnSpPr/>
          <p:nvPr/>
        </p:nvCxnSpPr>
        <p:spPr>
          <a:xfrm rot="10800000">
            <a:off x="6260675" y="95362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36;p24"/>
          <p:cNvCxnSpPr/>
          <p:nvPr/>
        </p:nvCxnSpPr>
        <p:spPr>
          <a:xfrm rot="10800000">
            <a:off x="3046389" y="1057790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37;p24"/>
          <p:cNvSpPr txBox="1"/>
          <p:nvPr/>
        </p:nvSpPr>
        <p:spPr>
          <a:xfrm>
            <a:off x="1824825" y="1618200"/>
            <a:ext cx="23112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For Scheduling Invites:</a:t>
            </a:r>
            <a:br>
              <a:rPr lang="en" b="1">
                <a:solidFill>
                  <a:schemeClr val="accent1"/>
                </a:solidFill>
              </a:rPr>
            </a:br>
            <a:r>
              <a:rPr lang="en" b="1">
                <a:solidFill>
                  <a:schemeClr val="accent1"/>
                </a:solidFill>
              </a:rPr>
              <a:t>1. Click here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7031378" y="693500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 Actions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 title="Screenshot 2026-04-16 at 5.00.3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5"/>
          <p:cNvCxnSpPr/>
          <p:nvPr/>
        </p:nvCxnSpPr>
        <p:spPr>
          <a:xfrm rot="10800000">
            <a:off x="5050885" y="1662975"/>
            <a:ext cx="637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" name="Google Shape;145;p25"/>
          <p:cNvSpPr txBox="1"/>
          <p:nvPr/>
        </p:nvSpPr>
        <p:spPr>
          <a:xfrm>
            <a:off x="5698327" y="1262475"/>
            <a:ext cx="26778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2. Select the studies and number of invites to send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46" name="Google Shape;146;p25"/>
          <p:cNvCxnSpPr/>
          <p:nvPr/>
        </p:nvCxnSpPr>
        <p:spPr>
          <a:xfrm rot="10800000">
            <a:off x="3041850" y="3686522"/>
            <a:ext cx="0" cy="40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25"/>
          <p:cNvSpPr txBox="1"/>
          <p:nvPr/>
        </p:nvSpPr>
        <p:spPr>
          <a:xfrm>
            <a:off x="1861050" y="4094522"/>
            <a:ext cx="2361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4. Click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48" name="Google Shape;148;p25"/>
          <p:cNvCxnSpPr/>
          <p:nvPr/>
        </p:nvCxnSpPr>
        <p:spPr>
          <a:xfrm rot="10800000">
            <a:off x="5053804" y="3148350"/>
            <a:ext cx="637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25"/>
          <p:cNvSpPr txBox="1"/>
          <p:nvPr/>
        </p:nvSpPr>
        <p:spPr>
          <a:xfrm>
            <a:off x="5701247" y="2747850"/>
            <a:ext cx="26778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3. Select date &amp; time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 title="Screenshot 2026-04-16 at 5.02.59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6"/>
          <p:cNvCxnSpPr/>
          <p:nvPr/>
        </p:nvCxnSpPr>
        <p:spPr>
          <a:xfrm rot="10800000">
            <a:off x="2498226" y="2116693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" name="Google Shape;156;p26"/>
          <p:cNvSpPr txBox="1"/>
          <p:nvPr/>
        </p:nvSpPr>
        <p:spPr>
          <a:xfrm>
            <a:off x="1635428" y="2677102"/>
            <a:ext cx="1725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5. Click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 title="Screenshot 2026-04-16 at 5.03.0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7"/>
          <p:cNvCxnSpPr/>
          <p:nvPr/>
        </p:nvCxnSpPr>
        <p:spPr>
          <a:xfrm rot="10800000">
            <a:off x="5874500" y="1863042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27"/>
          <p:cNvSpPr txBox="1"/>
          <p:nvPr/>
        </p:nvSpPr>
        <p:spPr>
          <a:xfrm>
            <a:off x="6645199" y="1602917"/>
            <a:ext cx="14553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Schedule confirmed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 title="Screenshot 2026-04-16 at 5.14.45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8"/>
          <p:cNvCxnSpPr/>
          <p:nvPr/>
        </p:nvCxnSpPr>
        <p:spPr>
          <a:xfrm rot="10800000">
            <a:off x="3843668" y="1070248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0" name="Google Shape;170;p28"/>
          <p:cNvSpPr txBox="1"/>
          <p:nvPr/>
        </p:nvSpPr>
        <p:spPr>
          <a:xfrm>
            <a:off x="2239575" y="1630650"/>
            <a:ext cx="32082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Filter participants:</a:t>
            </a:r>
            <a:br>
              <a:rPr lang="en" b="1">
                <a:solidFill>
                  <a:schemeClr val="accent1"/>
                </a:solidFill>
              </a:rPr>
            </a:br>
            <a:r>
              <a:rPr lang="en" b="1">
                <a:solidFill>
                  <a:schemeClr val="accent1"/>
                </a:solidFill>
              </a:rPr>
              <a:t>1. Click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71" name="Google Shape;171;p28"/>
          <p:cNvCxnSpPr/>
          <p:nvPr/>
        </p:nvCxnSpPr>
        <p:spPr>
          <a:xfrm>
            <a:off x="2874875" y="4075286"/>
            <a:ext cx="139800" cy="65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" name="Google Shape;172;p28"/>
          <p:cNvSpPr txBox="1"/>
          <p:nvPr/>
        </p:nvSpPr>
        <p:spPr>
          <a:xfrm>
            <a:off x="1719276" y="3438575"/>
            <a:ext cx="39864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2. Define filters (region, company type, etc.) using a conversational prompt.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73" name="Google Shape;173;p28"/>
          <p:cNvCxnSpPr/>
          <p:nvPr/>
        </p:nvCxnSpPr>
        <p:spPr>
          <a:xfrm>
            <a:off x="7200600" y="3998950"/>
            <a:ext cx="473700" cy="622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" name="Google Shape;174;p28"/>
          <p:cNvSpPr txBox="1"/>
          <p:nvPr/>
        </p:nvSpPr>
        <p:spPr>
          <a:xfrm>
            <a:off x="6535497" y="3585933"/>
            <a:ext cx="10545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3. Send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185226" y="4088950"/>
            <a:ext cx="12498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A9999"/>
                </a:solidFill>
              </a:rPr>
              <a:t>(Example 1)</a:t>
            </a:r>
            <a:endParaRPr b="1">
              <a:solidFill>
                <a:srgbClr val="EA999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 title="Screenshot 2026-04-16 at 5.26.19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29"/>
          <p:cNvCxnSpPr/>
          <p:nvPr/>
        </p:nvCxnSpPr>
        <p:spPr>
          <a:xfrm rot="10800000">
            <a:off x="3830825" y="2209650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" name="Google Shape;182;p29"/>
          <p:cNvSpPr txBox="1"/>
          <p:nvPr/>
        </p:nvSpPr>
        <p:spPr>
          <a:xfrm>
            <a:off x="4601528" y="1949525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Filters applied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3" name="Google Shape;183;p29"/>
          <p:cNvCxnSpPr/>
          <p:nvPr/>
        </p:nvCxnSpPr>
        <p:spPr>
          <a:xfrm rot="10800000">
            <a:off x="2051712" y="3549500"/>
            <a:ext cx="0" cy="40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p29"/>
          <p:cNvSpPr txBox="1"/>
          <p:nvPr/>
        </p:nvSpPr>
        <p:spPr>
          <a:xfrm>
            <a:off x="1499800" y="3957500"/>
            <a:ext cx="1104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4. Click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0" title="Screenshot 2026-04-16 at 5.26.3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30"/>
          <p:cNvCxnSpPr/>
          <p:nvPr/>
        </p:nvCxnSpPr>
        <p:spPr>
          <a:xfrm rot="10800000">
            <a:off x="3830825" y="410322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30"/>
          <p:cNvSpPr txBox="1"/>
          <p:nvPr/>
        </p:nvSpPr>
        <p:spPr>
          <a:xfrm>
            <a:off x="4601528" y="3843100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Invites sent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 title="Screenshot 2026-04-16 at 5.31.3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1"/>
          <p:cNvCxnSpPr/>
          <p:nvPr/>
        </p:nvCxnSpPr>
        <p:spPr>
          <a:xfrm rot="10800000">
            <a:off x="3843668" y="1070248"/>
            <a:ext cx="0" cy="56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31"/>
          <p:cNvSpPr txBox="1"/>
          <p:nvPr/>
        </p:nvSpPr>
        <p:spPr>
          <a:xfrm>
            <a:off x="2239575" y="1630650"/>
            <a:ext cx="32082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Filter participants:</a:t>
            </a:r>
            <a:br>
              <a:rPr lang="en" b="1">
                <a:solidFill>
                  <a:schemeClr val="accent1"/>
                </a:solidFill>
              </a:rPr>
            </a:br>
            <a:r>
              <a:rPr lang="en" b="1">
                <a:solidFill>
                  <a:schemeClr val="accent1"/>
                </a:solidFill>
              </a:rPr>
              <a:t>1. Click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99" name="Google Shape;199;p31"/>
          <p:cNvCxnSpPr/>
          <p:nvPr/>
        </p:nvCxnSpPr>
        <p:spPr>
          <a:xfrm>
            <a:off x="2874875" y="4075286"/>
            <a:ext cx="139800" cy="65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0" name="Google Shape;200;p31"/>
          <p:cNvSpPr txBox="1"/>
          <p:nvPr/>
        </p:nvSpPr>
        <p:spPr>
          <a:xfrm>
            <a:off x="1719276" y="3438575"/>
            <a:ext cx="39864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2. Define filters (region, company type, etc.) using a conversational prompt.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201" name="Google Shape;201;p31"/>
          <p:cNvCxnSpPr/>
          <p:nvPr/>
        </p:nvCxnSpPr>
        <p:spPr>
          <a:xfrm>
            <a:off x="7200600" y="3998950"/>
            <a:ext cx="473700" cy="622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" name="Google Shape;202;p31"/>
          <p:cNvSpPr txBox="1"/>
          <p:nvPr/>
        </p:nvSpPr>
        <p:spPr>
          <a:xfrm>
            <a:off x="6535497" y="3585933"/>
            <a:ext cx="10545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3. Send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185226" y="4088950"/>
            <a:ext cx="12498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A9999"/>
                </a:solidFill>
              </a:rPr>
              <a:t>(Example 2)</a:t>
            </a:r>
            <a:endParaRPr b="1">
              <a:solidFill>
                <a:srgbClr val="EA99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2" title="Screenshot 2026-04-16 at 5.31.43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2"/>
          <p:cNvCxnSpPr/>
          <p:nvPr/>
        </p:nvCxnSpPr>
        <p:spPr>
          <a:xfrm rot="10800000">
            <a:off x="3830825" y="2209650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32"/>
          <p:cNvSpPr txBox="1"/>
          <p:nvPr/>
        </p:nvSpPr>
        <p:spPr>
          <a:xfrm>
            <a:off x="4601528" y="1949525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Filters applied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1" name="Google Shape;211;p32"/>
          <p:cNvCxnSpPr/>
          <p:nvPr/>
        </p:nvCxnSpPr>
        <p:spPr>
          <a:xfrm rot="10800000">
            <a:off x="2051712" y="3692873"/>
            <a:ext cx="0" cy="40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p32"/>
          <p:cNvSpPr txBox="1"/>
          <p:nvPr/>
        </p:nvSpPr>
        <p:spPr>
          <a:xfrm>
            <a:off x="1499800" y="4100873"/>
            <a:ext cx="1104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4. Click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 title="Screenshot 2026-04-16 at 5.32.00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33"/>
          <p:cNvCxnSpPr/>
          <p:nvPr/>
        </p:nvCxnSpPr>
        <p:spPr>
          <a:xfrm rot="10800000">
            <a:off x="3830825" y="4103225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33"/>
          <p:cNvSpPr txBox="1"/>
          <p:nvPr/>
        </p:nvSpPr>
        <p:spPr>
          <a:xfrm>
            <a:off x="4601528" y="3843100"/>
            <a:ext cx="9537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Invites sent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4" title="Screenshot 2026-04-16 at 5.49.4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34"/>
          <p:cNvCxnSpPr/>
          <p:nvPr/>
        </p:nvCxnSpPr>
        <p:spPr>
          <a:xfrm rot="10800000">
            <a:off x="4968850" y="1343300"/>
            <a:ext cx="770700" cy="0"/>
          </a:xfrm>
          <a:prstGeom prst="straightConnector1">
            <a:avLst/>
          </a:prstGeom>
          <a:noFill/>
          <a:ln w="28575" cap="flat" cmpd="sng">
            <a:solidFill>
              <a:srgbClr val="20124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p34"/>
          <p:cNvSpPr txBox="1"/>
          <p:nvPr/>
        </p:nvSpPr>
        <p:spPr>
          <a:xfrm>
            <a:off x="5739550" y="979850"/>
            <a:ext cx="19308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Capabilities Overview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>
            <a:off x="6881900" y="663150"/>
            <a:ext cx="34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8" name="Google Shape;228;p34"/>
          <p:cNvSpPr txBox="1"/>
          <p:nvPr/>
        </p:nvSpPr>
        <p:spPr>
          <a:xfrm>
            <a:off x="5384665" y="474900"/>
            <a:ext cx="15510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Help command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 title="Screenshot 2026-04-16 at 5.38.41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6" title="Screenshot 2026-04-16 at 5.38.4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6"/>
          <p:cNvCxnSpPr/>
          <p:nvPr/>
        </p:nvCxnSpPr>
        <p:spPr>
          <a:xfrm>
            <a:off x="7356650" y="1469575"/>
            <a:ext cx="0" cy="2691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36"/>
          <p:cNvSpPr txBox="1"/>
          <p:nvPr/>
        </p:nvSpPr>
        <p:spPr>
          <a:xfrm>
            <a:off x="6653457" y="1188345"/>
            <a:ext cx="1406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</a:rPr>
              <a:t>Click</a:t>
            </a:r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 title="Screenshot 2026-04-16 at 5.38.57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8" title="Screenshot 2026-04-16 at 5.38.41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8"/>
          <p:cNvCxnSpPr>
            <a:stCxn id="252" idx="0"/>
          </p:cNvCxnSpPr>
          <p:nvPr/>
        </p:nvCxnSpPr>
        <p:spPr>
          <a:xfrm rot="10800000" flipH="1">
            <a:off x="6263100" y="2611600"/>
            <a:ext cx="179100" cy="605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8"/>
          <p:cNvSpPr txBox="1"/>
          <p:nvPr/>
        </p:nvSpPr>
        <p:spPr>
          <a:xfrm>
            <a:off x="4659000" y="3216700"/>
            <a:ext cx="32082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These actions </a:t>
            </a:r>
            <a:r>
              <a:rPr lang="en" sz="1100" b="1">
                <a:solidFill>
                  <a:srgbClr val="434343"/>
                </a:solidFill>
              </a:rPr>
              <a:t>trigger the conversational interface</a:t>
            </a:r>
            <a:r>
              <a:rPr lang="en" sz="1100">
                <a:solidFill>
                  <a:srgbClr val="434343"/>
                </a:solidFill>
              </a:rPr>
              <a:t>, automatically staging the necessary commands.</a:t>
            </a:r>
            <a:endParaRPr b="1">
              <a:solidFill>
                <a:srgbClr val="434343"/>
              </a:solidFill>
            </a:endParaRPr>
          </a:p>
        </p:txBody>
      </p:sp>
      <p:cxnSp>
        <p:nvCxnSpPr>
          <p:cNvPr id="253" name="Google Shape;253;p38"/>
          <p:cNvCxnSpPr>
            <a:stCxn id="252" idx="0"/>
          </p:cNvCxnSpPr>
          <p:nvPr/>
        </p:nvCxnSpPr>
        <p:spPr>
          <a:xfrm rot="10800000" flipH="1">
            <a:off x="6263100" y="2611600"/>
            <a:ext cx="726000" cy="605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9" title="Screenshot 2026-04-16 at 5.47.00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0" title="Screenshot 2026-04-16 at 5.47.42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0" y="61700"/>
            <a:ext cx="8034673" cy="502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4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9" name="Google Shape;269;p4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1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48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lang="en-US" sz="4800" b="1">
                <a:solidFill>
                  <a:srgbClr val="1E293B"/>
                </a:solidFill>
                <a:latin typeface="Arial"/>
                <a:ea typeface="Arial"/>
                <a:cs typeface="Arial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800" b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UXReach</a:t>
              </a:r>
              <a:r>
                <a:rPr lang="en" sz="18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Invite Age</a:t>
              </a:r>
              <a:r>
                <a:rPr lang="en" sz="1800">
                  <a:solidFill>
                    <a:srgbClr val="64748B"/>
                  </a:solidFill>
                </a:rPr>
                <a:t>nt </a:t>
              </a:r>
              <a:r>
                <a:rPr lang="en" sz="18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POC Presentation</a:t>
              </a:r>
              <a:endParaRPr sz="18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41"/>
          <p:cNvSpPr/>
          <p:nvPr/>
        </p:nvSpPr>
        <p:spPr>
          <a:xfrm>
            <a:off x="304800" y="4572000"/>
            <a:ext cx="1428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27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Simple Light</vt:lpstr>
      <vt:lpstr>POC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2026-04-16T12:46:09Z</dcterms:modified>
</cp:coreProperties>
</file>